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65" r:id="rId16"/>
  </p:sldIdLst>
  <p:sldSz cx="9144000" cy="5143500" type="screen16x9"/>
  <p:notesSz cx="5143500" cy="9144000"/>
  <p:embeddedFontLst>
    <p:embeddedFont>
      <p:font typeface="Dela Gothic One" panose="020B0604020202020204" charset="-128"/>
      <p:regular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DM Sans" pitchFamily="2" charset="0"/>
      <p:regular r:id="rId23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9422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2122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03609" y="313581"/>
            <a:ext cx="1487016" cy="143024"/>
          </a:xfrm>
          <a:prstGeom prst="roundRect">
            <a:avLst>
              <a:gd name="adj" fmla="val 20380"/>
            </a:avLst>
          </a:prstGeom>
          <a:solidFill>
            <a:srgbClr val="460707"/>
          </a:solidFill>
          <a:ln/>
        </p:spPr>
      </p:sp>
      <p:sp>
        <p:nvSpPr>
          <p:cNvPr id="4" name="Text 1"/>
          <p:cNvSpPr/>
          <p:nvPr/>
        </p:nvSpPr>
        <p:spPr>
          <a:xfrm>
            <a:off x="355625" y="339551"/>
            <a:ext cx="1840185" cy="91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5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CAPSTONE PROJECT · NIRANJAN | PGDA 46</a:t>
            </a:r>
            <a:endParaRPr lang="en-US" sz="500" dirty="0"/>
          </a:p>
        </p:txBody>
      </p:sp>
      <p:sp>
        <p:nvSpPr>
          <p:cNvPr id="5" name="Text 2"/>
          <p:cNvSpPr/>
          <p:nvPr/>
        </p:nvSpPr>
        <p:spPr>
          <a:xfrm>
            <a:off x="303609" y="478780"/>
            <a:ext cx="5107781" cy="570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F1 World Championship — Performance Intelligence Dashboard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303609" y="1132880"/>
            <a:ext cx="5107781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6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75 seasons of data distilled into three analytical pillars: </a:t>
            </a:r>
            <a:r>
              <a:rPr lang="en-US" sz="65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Driver Analytics</a:t>
            </a:r>
            <a:r>
              <a:rPr lang="en-US" sz="6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65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Constructor Dominance</a:t>
            </a:r>
            <a:r>
              <a:rPr lang="en-US" sz="6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and </a:t>
            </a:r>
            <a:r>
              <a:rPr lang="en-US" sz="65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Circuit Intelligence</a:t>
            </a:r>
            <a:r>
              <a:rPr lang="en-US" sz="6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Source: F1 World Championship 1950–2024 | 14 tables | 1,128 race wins.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303609" y="1466404"/>
            <a:ext cx="5107781" cy="286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2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75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2286744" y="1837655"/>
            <a:ext cx="1141437" cy="14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Seasons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03609" y="2134716"/>
            <a:ext cx="5107781" cy="286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2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14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2286744" y="2505968"/>
            <a:ext cx="1141437" cy="14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Tables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03609" y="2803029"/>
            <a:ext cx="5107781" cy="286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2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1,128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2286744" y="3174281"/>
            <a:ext cx="1141437" cy="14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Wins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03609" y="3471342"/>
            <a:ext cx="5107781" cy="286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2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860+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2286744" y="3842593"/>
            <a:ext cx="1141437" cy="14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Drivers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03609" y="4139654"/>
            <a:ext cx="5107781" cy="286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2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77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2286744" y="4510906"/>
            <a:ext cx="1141437" cy="14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Circuits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5009" y="4716066"/>
            <a:ext cx="5336381" cy="113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6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Niranjan | PGDA 46 | Capstone Project 1 | May 2026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366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7268" y="341858"/>
            <a:ext cx="4992588" cy="3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07268" y="1679302"/>
            <a:ext cx="4900464" cy="1031825"/>
          </a:xfrm>
          <a:prstGeom prst="roundRect">
            <a:avLst>
              <a:gd name="adj" fmla="val 4737"/>
            </a:avLst>
          </a:prstGeom>
          <a:solidFill>
            <a:srgbClr val="0A0A0A">
              <a:alpha val="95000"/>
            </a:srgbClr>
          </a:solidFill>
          <a:ln w="14288">
            <a:solidFill>
              <a:srgbClr val="8D242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21556" y="1693590"/>
            <a:ext cx="465460" cy="1003250"/>
          </a:xfrm>
          <a:prstGeom prst="roundRect">
            <a:avLst>
              <a:gd name="adj" fmla="val 6817"/>
            </a:avLst>
          </a:prstGeom>
          <a:solidFill>
            <a:srgbClr val="740B0B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4654" y="2107927"/>
            <a:ext cx="174501" cy="17450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86954" y="1809899"/>
            <a:ext cx="1531144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986954" y="2061270"/>
            <a:ext cx="4190181" cy="519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a Power BI Performance Intelligence Dashboard integrating all 14 relational tables from the F1 World Championship dataset (1950–2024) into a unified, interactive, multi-page analytical tool.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407268" y="2811066"/>
            <a:ext cx="4900464" cy="858738"/>
          </a:xfrm>
          <a:prstGeom prst="roundRect">
            <a:avLst>
              <a:gd name="adj" fmla="val 5692"/>
            </a:avLst>
          </a:prstGeom>
          <a:solidFill>
            <a:srgbClr val="0A0A0A">
              <a:alpha val="95000"/>
            </a:srgbClr>
          </a:solidFill>
          <a:ln w="14288">
            <a:solidFill>
              <a:srgbClr val="8D2424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21556" y="2825353"/>
            <a:ext cx="465460" cy="830163"/>
          </a:xfrm>
          <a:prstGeom prst="roundRect">
            <a:avLst>
              <a:gd name="adj" fmla="val 6817"/>
            </a:avLst>
          </a:prstGeom>
          <a:solidFill>
            <a:srgbClr val="740B0B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4654" y="3153147"/>
            <a:ext cx="174501" cy="17450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86954" y="2941662"/>
            <a:ext cx="1531144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SCOPE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986954" y="3193033"/>
            <a:ext cx="4190181" cy="346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75 seasons · 1,125+ Grand Prix · 860+ drivers · 210 constructors · 77 circuits · 35+ countries · 6 analytical dashboard pages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407268" y="3769742"/>
            <a:ext cx="4900464" cy="1031825"/>
          </a:xfrm>
          <a:prstGeom prst="roundRect">
            <a:avLst>
              <a:gd name="adj" fmla="val 4737"/>
            </a:avLst>
          </a:prstGeom>
          <a:solidFill>
            <a:srgbClr val="0A0A0A">
              <a:alpha val="95000"/>
            </a:srgbClr>
          </a:solidFill>
          <a:ln w="14288">
            <a:solidFill>
              <a:srgbClr val="8D2424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21556" y="3784029"/>
            <a:ext cx="465460" cy="1003250"/>
          </a:xfrm>
          <a:prstGeom prst="roundRect">
            <a:avLst>
              <a:gd name="adj" fmla="val 6817"/>
            </a:avLst>
          </a:prstGeom>
          <a:solidFill>
            <a:srgbClr val="740B0B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4654" y="4198367"/>
            <a:ext cx="174501" cy="17450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86954" y="3900339"/>
            <a:ext cx="1763390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BUSINESS VALUE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986954" y="4151709"/>
            <a:ext cx="4190181" cy="519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Replicate a real-world sports analytics use case used by F1 teams, broadcasters, and race strategists to make data-driven performance decisions.</a:t>
            </a:r>
            <a:endParaRPr lang="en-US" sz="9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7F312E-E4D2-6463-0D23-E3CAC47C94C4}"/>
              </a:ext>
            </a:extLst>
          </p:cNvPr>
          <p:cNvSpPr txBox="1"/>
          <p:nvPr/>
        </p:nvSpPr>
        <p:spPr>
          <a:xfrm>
            <a:off x="421556" y="924714"/>
            <a:ext cx="4886176" cy="623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>
              <a:defRPr lang="en-US"/>
            </a:defPPr>
            <a:lvl1pPr indent="0">
              <a:lnSpc>
                <a:spcPct val="124000"/>
              </a:lnSpc>
              <a:buNone/>
              <a:defRPr sz="9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r>
              <a:rPr lang="en-US" dirty="0"/>
              <a:t>Formula 1 produces a huge amount of data every season, including race results, lap times, pit stops, and qualifying performance. However, understanding this data in a meaningful way can be difficult without proper analysis and visualization.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3226" y="322362"/>
            <a:ext cx="5048548" cy="626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DATASET OVERVIEW — 14 TABLES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333226" y="975345"/>
            <a:ext cx="5048548" cy="313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Formula 1 World Championship 1950–2024 · Kaggle · CC0 Public Domain · 14 CSV Files · 120 Columns · 21.99 MB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33226" y="1389013"/>
            <a:ext cx="5048548" cy="3432125"/>
          </a:xfrm>
          <a:prstGeom prst="roundRect">
            <a:avLst>
              <a:gd name="adj" fmla="val 1165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37989" y="1393775"/>
            <a:ext cx="5039023" cy="2195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33239" y="1438647"/>
            <a:ext cx="1524223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Table (CSV)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1695376" y="1438647"/>
            <a:ext cx="1017910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Rows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451199" y="1438647"/>
            <a:ext cx="3287837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Columns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337989" y="1613297"/>
            <a:ext cx="5039023" cy="21952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33239" y="1658169"/>
            <a:ext cx="1524223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results.csv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1695376" y="1658169"/>
            <a:ext cx="1017910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26,000+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2451199" y="1658169"/>
            <a:ext cx="3287837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resultId, raceId, driverId, constructorId, position, points, laps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337989" y="1832818"/>
            <a:ext cx="5039023" cy="2195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433239" y="1877690"/>
            <a:ext cx="1524223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races.csv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695376" y="1877690"/>
            <a:ext cx="1017910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1,125+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2451199" y="1877690"/>
            <a:ext cx="3287837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raceId, year, round, name, date, circuitId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337989" y="2052340"/>
            <a:ext cx="5039023" cy="21952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433239" y="2097212"/>
            <a:ext cx="1524223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drivers.csv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1695376" y="2097212"/>
            <a:ext cx="1017910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860+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2451199" y="2097212"/>
            <a:ext cx="3287837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driverId, forename, surname, nationality, dob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337989" y="2271861"/>
            <a:ext cx="5039023" cy="2195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3" name="Text 20"/>
          <p:cNvSpPr/>
          <p:nvPr/>
        </p:nvSpPr>
        <p:spPr>
          <a:xfrm>
            <a:off x="433239" y="2316733"/>
            <a:ext cx="1524223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constructors.csv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1695376" y="2316733"/>
            <a:ext cx="1017910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210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2451199" y="2316733"/>
            <a:ext cx="3287837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constructorId, name, nationality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337989" y="2491383"/>
            <a:ext cx="5039023" cy="21952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433239" y="2536254"/>
            <a:ext cx="1524223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circuits.csv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1695376" y="2536254"/>
            <a:ext cx="1017910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77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2451199" y="2536254"/>
            <a:ext cx="3287837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circuitId, name, location, country, lat, lng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337989" y="2710904"/>
            <a:ext cx="5039023" cy="2195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433239" y="2755776"/>
            <a:ext cx="1524223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qualifying.csv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1695376" y="2755776"/>
            <a:ext cx="1017910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9,600+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2451199" y="2755776"/>
            <a:ext cx="3287837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qualifyId, raceId, driverId, q1, q2, q3 times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337989" y="2930426"/>
            <a:ext cx="5039023" cy="21952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433239" y="2975297"/>
            <a:ext cx="1524223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lap_times.csv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1695376" y="2975297"/>
            <a:ext cx="1017910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538,000+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2451199" y="2975297"/>
            <a:ext cx="3287837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raceId, driverId, lap, position, time (ms)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337989" y="3149947"/>
            <a:ext cx="5039023" cy="2195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9" name="Text 36"/>
          <p:cNvSpPr/>
          <p:nvPr/>
        </p:nvSpPr>
        <p:spPr>
          <a:xfrm>
            <a:off x="433239" y="3194819"/>
            <a:ext cx="1524223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pit_stops.csv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1695376" y="3194819"/>
            <a:ext cx="1017910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10,000+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2451199" y="3194819"/>
            <a:ext cx="3287837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raceId, driverId, stop, lap, duration (ms)</a:t>
            </a:r>
            <a:endParaRPr lang="en-US" sz="700" dirty="0"/>
          </a:p>
        </p:txBody>
      </p:sp>
      <p:sp>
        <p:nvSpPr>
          <p:cNvPr id="42" name="Shape 39"/>
          <p:cNvSpPr/>
          <p:nvPr/>
        </p:nvSpPr>
        <p:spPr>
          <a:xfrm>
            <a:off x="337989" y="3369469"/>
            <a:ext cx="5039023" cy="21952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433239" y="3414340"/>
            <a:ext cx="1524223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driver_standings.csv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695376" y="3414340"/>
            <a:ext cx="1017910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34,000+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2451199" y="3414340"/>
            <a:ext cx="3287837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raceId, driverId, points, position, wins</a:t>
            </a:r>
            <a:endParaRPr lang="en-US" sz="700" dirty="0"/>
          </a:p>
        </p:txBody>
      </p:sp>
      <p:sp>
        <p:nvSpPr>
          <p:cNvPr id="46" name="Shape 43"/>
          <p:cNvSpPr/>
          <p:nvPr/>
        </p:nvSpPr>
        <p:spPr>
          <a:xfrm>
            <a:off x="337989" y="3588990"/>
            <a:ext cx="5039023" cy="3493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7" name="Text 44"/>
          <p:cNvSpPr/>
          <p:nvPr/>
        </p:nvSpPr>
        <p:spPr>
          <a:xfrm>
            <a:off x="433239" y="3633862"/>
            <a:ext cx="1067023" cy="259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constructor_standings.csv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1695376" y="3633862"/>
            <a:ext cx="1017910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13,000+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2451199" y="3633862"/>
            <a:ext cx="3287837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raceId, constructorId, points, position</a:t>
            </a:r>
            <a:endParaRPr lang="en-US" sz="700" dirty="0"/>
          </a:p>
        </p:txBody>
      </p:sp>
      <p:sp>
        <p:nvSpPr>
          <p:cNvPr id="50" name="Shape 47"/>
          <p:cNvSpPr/>
          <p:nvPr/>
        </p:nvSpPr>
        <p:spPr>
          <a:xfrm>
            <a:off x="337989" y="3938290"/>
            <a:ext cx="5039023" cy="21952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1" name="Text 48"/>
          <p:cNvSpPr/>
          <p:nvPr/>
        </p:nvSpPr>
        <p:spPr>
          <a:xfrm>
            <a:off x="433239" y="3983162"/>
            <a:ext cx="1524223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constructor_results.csv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1695376" y="3983162"/>
            <a:ext cx="1017910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20,000+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2451199" y="3983162"/>
            <a:ext cx="3287837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raceId, constructorId, points, status</a:t>
            </a:r>
            <a:endParaRPr lang="en-US" sz="700" dirty="0"/>
          </a:p>
        </p:txBody>
      </p:sp>
      <p:sp>
        <p:nvSpPr>
          <p:cNvPr id="54" name="Shape 51"/>
          <p:cNvSpPr/>
          <p:nvPr/>
        </p:nvSpPr>
        <p:spPr>
          <a:xfrm>
            <a:off x="337989" y="4157811"/>
            <a:ext cx="5039023" cy="2195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5" name="Text 52"/>
          <p:cNvSpPr/>
          <p:nvPr/>
        </p:nvSpPr>
        <p:spPr>
          <a:xfrm>
            <a:off x="433239" y="4202683"/>
            <a:ext cx="1524223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status.csv</a:t>
            </a:r>
            <a:endParaRPr lang="en-US" sz="700" dirty="0"/>
          </a:p>
        </p:txBody>
      </p:sp>
      <p:sp>
        <p:nvSpPr>
          <p:cNvPr id="56" name="Text 53"/>
          <p:cNvSpPr/>
          <p:nvPr/>
        </p:nvSpPr>
        <p:spPr>
          <a:xfrm>
            <a:off x="1695376" y="4202683"/>
            <a:ext cx="1017910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139</a:t>
            </a:r>
            <a:endParaRPr lang="en-US" sz="700" dirty="0"/>
          </a:p>
        </p:txBody>
      </p:sp>
      <p:sp>
        <p:nvSpPr>
          <p:cNvPr id="57" name="Text 54"/>
          <p:cNvSpPr/>
          <p:nvPr/>
        </p:nvSpPr>
        <p:spPr>
          <a:xfrm>
            <a:off x="2451199" y="4202683"/>
            <a:ext cx="3287837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statusId, status (Finished/Engine/Accident...)</a:t>
            </a:r>
            <a:endParaRPr lang="en-US" sz="700" dirty="0"/>
          </a:p>
        </p:txBody>
      </p:sp>
      <p:sp>
        <p:nvSpPr>
          <p:cNvPr id="58" name="Shape 55"/>
          <p:cNvSpPr/>
          <p:nvPr/>
        </p:nvSpPr>
        <p:spPr>
          <a:xfrm>
            <a:off x="337989" y="4377333"/>
            <a:ext cx="5039023" cy="21952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9" name="Text 56"/>
          <p:cNvSpPr/>
          <p:nvPr/>
        </p:nvSpPr>
        <p:spPr>
          <a:xfrm>
            <a:off x="433239" y="4422204"/>
            <a:ext cx="1524223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seasons.csv</a:t>
            </a:r>
            <a:endParaRPr lang="en-US" sz="700" dirty="0"/>
          </a:p>
        </p:txBody>
      </p:sp>
      <p:sp>
        <p:nvSpPr>
          <p:cNvPr id="60" name="Text 57"/>
          <p:cNvSpPr/>
          <p:nvPr/>
        </p:nvSpPr>
        <p:spPr>
          <a:xfrm>
            <a:off x="1695376" y="4422204"/>
            <a:ext cx="1017910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75</a:t>
            </a:r>
            <a:endParaRPr lang="en-US" sz="700" dirty="0"/>
          </a:p>
        </p:txBody>
      </p:sp>
      <p:sp>
        <p:nvSpPr>
          <p:cNvPr id="61" name="Text 58"/>
          <p:cNvSpPr/>
          <p:nvPr/>
        </p:nvSpPr>
        <p:spPr>
          <a:xfrm>
            <a:off x="2451199" y="4422204"/>
            <a:ext cx="3287837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year, url</a:t>
            </a:r>
            <a:endParaRPr lang="en-US" sz="700" dirty="0"/>
          </a:p>
        </p:txBody>
      </p:sp>
      <p:sp>
        <p:nvSpPr>
          <p:cNvPr id="62" name="Shape 59"/>
          <p:cNvSpPr/>
          <p:nvPr/>
        </p:nvSpPr>
        <p:spPr>
          <a:xfrm>
            <a:off x="337989" y="4596854"/>
            <a:ext cx="5039023" cy="2195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3" name="Text 60"/>
          <p:cNvSpPr/>
          <p:nvPr/>
        </p:nvSpPr>
        <p:spPr>
          <a:xfrm>
            <a:off x="433239" y="4641726"/>
            <a:ext cx="1524223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sprint_results.csv</a:t>
            </a:r>
            <a:endParaRPr lang="en-US" sz="700" dirty="0"/>
          </a:p>
        </p:txBody>
      </p:sp>
      <p:sp>
        <p:nvSpPr>
          <p:cNvPr id="64" name="Text 61"/>
          <p:cNvSpPr/>
          <p:nvPr/>
        </p:nvSpPr>
        <p:spPr>
          <a:xfrm>
            <a:off x="1695376" y="4641726"/>
            <a:ext cx="1017910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200+</a:t>
            </a:r>
            <a:endParaRPr lang="en-US" sz="700" dirty="0"/>
          </a:p>
        </p:txBody>
      </p:sp>
      <p:sp>
        <p:nvSpPr>
          <p:cNvPr id="65" name="Text 62"/>
          <p:cNvSpPr/>
          <p:nvPr/>
        </p:nvSpPr>
        <p:spPr>
          <a:xfrm>
            <a:off x="2451199" y="4641726"/>
            <a:ext cx="3287837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Sprint race results from 2021 onwards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460" y="328092"/>
            <a:ext cx="4930080" cy="737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DATA MODEL — STAR SCHEMA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392460" y="1102965"/>
            <a:ext cx="4930080" cy="553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results.csv is the central FACT table — 13 dimension tables connect via foreign keys (raceId, driverId, constructorId, circuitId, statusId)</a:t>
            </a:r>
            <a:endParaRPr lang="en-US" sz="11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460" y="1795388"/>
            <a:ext cx="4930080" cy="2751609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460" y="1795388"/>
            <a:ext cx="4930080" cy="2751609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92460" y="4651400"/>
            <a:ext cx="5387280" cy="163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Note: All relationships defined and validated in Power BI Model View before building visuals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3226" y="390971"/>
            <a:ext cx="5048548" cy="626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DASHBOARD STRUCTURE — 5 PAGES</a:t>
            </a:r>
            <a:endParaRPr lang="en-US" sz="1950" dirty="0"/>
          </a:p>
        </p:txBody>
      </p:sp>
      <p:sp>
        <p:nvSpPr>
          <p:cNvPr id="4" name="Shape 1"/>
          <p:cNvSpPr/>
          <p:nvPr/>
        </p:nvSpPr>
        <p:spPr>
          <a:xfrm>
            <a:off x="333226" y="1260425"/>
            <a:ext cx="2490788" cy="1058540"/>
          </a:xfrm>
          <a:prstGeom prst="roundRect">
            <a:avLst>
              <a:gd name="adj" fmla="val 4319"/>
            </a:avLst>
          </a:prstGeom>
          <a:solidFill>
            <a:srgbClr val="0A0A0A">
              <a:alpha val="95000"/>
            </a:srgbClr>
          </a:solidFill>
          <a:ln w="9525">
            <a:solidFill>
              <a:srgbClr val="8D242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33226" y="1250900"/>
            <a:ext cx="2490788" cy="38100"/>
          </a:xfrm>
          <a:prstGeom prst="roundRect">
            <a:avLst>
              <a:gd name="adj" fmla="val 104959"/>
            </a:avLst>
          </a:prstGeom>
          <a:solidFill>
            <a:srgbClr val="C91313"/>
          </a:solidFill>
          <a:ln/>
        </p:spPr>
      </p:sp>
      <p:sp>
        <p:nvSpPr>
          <p:cNvPr id="6" name="Shape 3"/>
          <p:cNvSpPr/>
          <p:nvPr/>
        </p:nvSpPr>
        <p:spPr>
          <a:xfrm>
            <a:off x="1435819" y="1117625"/>
            <a:ext cx="285601" cy="285601"/>
          </a:xfrm>
          <a:prstGeom prst="roundRect">
            <a:avLst>
              <a:gd name="adj" fmla="val 200104"/>
            </a:avLst>
          </a:prstGeom>
          <a:solidFill>
            <a:srgbClr val="C91313"/>
          </a:solidFill>
          <a:ln/>
        </p:spPr>
      </p:sp>
      <p:sp>
        <p:nvSpPr>
          <p:cNvPr id="7" name="Text 4"/>
          <p:cNvSpPr/>
          <p:nvPr/>
        </p:nvSpPr>
        <p:spPr>
          <a:xfrm>
            <a:off x="1521470" y="1188988"/>
            <a:ext cx="114226" cy="1428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37927" y="1498402"/>
            <a:ext cx="1252761" cy="156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HOME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37927" y="1695152"/>
            <a:ext cx="2281386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Navigation hub with action buttons linking to all dashboard pages. F1 car hero image. Project title and branding.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2890912" y="1260425"/>
            <a:ext cx="2490862" cy="1058540"/>
          </a:xfrm>
          <a:prstGeom prst="roundRect">
            <a:avLst>
              <a:gd name="adj" fmla="val 4319"/>
            </a:avLst>
          </a:prstGeom>
          <a:solidFill>
            <a:srgbClr val="0A0A0A">
              <a:alpha val="95000"/>
            </a:srgbClr>
          </a:solidFill>
          <a:ln w="9525">
            <a:solidFill>
              <a:srgbClr val="8D242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890912" y="1250900"/>
            <a:ext cx="2490862" cy="38100"/>
          </a:xfrm>
          <a:prstGeom prst="roundRect">
            <a:avLst>
              <a:gd name="adj" fmla="val 104959"/>
            </a:avLst>
          </a:prstGeom>
          <a:solidFill>
            <a:srgbClr val="C91313"/>
          </a:solidFill>
          <a:ln/>
        </p:spPr>
      </p:sp>
      <p:sp>
        <p:nvSpPr>
          <p:cNvPr id="12" name="Shape 9"/>
          <p:cNvSpPr/>
          <p:nvPr/>
        </p:nvSpPr>
        <p:spPr>
          <a:xfrm>
            <a:off x="3993505" y="1117625"/>
            <a:ext cx="285601" cy="285601"/>
          </a:xfrm>
          <a:prstGeom prst="roundRect">
            <a:avLst>
              <a:gd name="adj" fmla="val 200104"/>
            </a:avLst>
          </a:prstGeom>
          <a:solidFill>
            <a:srgbClr val="C91313"/>
          </a:solidFill>
          <a:ln/>
        </p:spPr>
      </p:sp>
      <p:sp>
        <p:nvSpPr>
          <p:cNvPr id="13" name="Text 10"/>
          <p:cNvSpPr/>
          <p:nvPr/>
        </p:nvSpPr>
        <p:spPr>
          <a:xfrm>
            <a:off x="4079156" y="1188988"/>
            <a:ext cx="114226" cy="1428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995612" y="1498402"/>
            <a:ext cx="2260699" cy="156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SEASON COMMAND CENTER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995612" y="1695152"/>
            <a:ext cx="2281461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KPI cards (Total Races, Wins, Podiums, DNFs, Win Rate%) · Year slicer (1950–2024) · Top 10 All-Time Drivers bar chart · Wins by Decade chart · Driver Nationality donut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333226" y="2528664"/>
            <a:ext cx="2490788" cy="1215182"/>
          </a:xfrm>
          <a:prstGeom prst="roundRect">
            <a:avLst>
              <a:gd name="adj" fmla="val 3762"/>
            </a:avLst>
          </a:prstGeom>
          <a:solidFill>
            <a:srgbClr val="0A0A0A">
              <a:alpha val="95000"/>
            </a:srgbClr>
          </a:solidFill>
          <a:ln w="9525">
            <a:solidFill>
              <a:srgbClr val="8D242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33226" y="2519139"/>
            <a:ext cx="2490788" cy="38100"/>
          </a:xfrm>
          <a:prstGeom prst="roundRect">
            <a:avLst>
              <a:gd name="adj" fmla="val 104959"/>
            </a:avLst>
          </a:prstGeom>
          <a:solidFill>
            <a:srgbClr val="C91313"/>
          </a:solidFill>
          <a:ln/>
        </p:spPr>
      </p:sp>
      <p:sp>
        <p:nvSpPr>
          <p:cNvPr id="18" name="Shape 15"/>
          <p:cNvSpPr/>
          <p:nvPr/>
        </p:nvSpPr>
        <p:spPr>
          <a:xfrm>
            <a:off x="1435819" y="2385864"/>
            <a:ext cx="285601" cy="285601"/>
          </a:xfrm>
          <a:prstGeom prst="roundRect">
            <a:avLst>
              <a:gd name="adj" fmla="val 200104"/>
            </a:avLst>
          </a:prstGeom>
          <a:solidFill>
            <a:srgbClr val="C91313"/>
          </a:solidFill>
          <a:ln/>
        </p:spPr>
      </p:sp>
      <p:sp>
        <p:nvSpPr>
          <p:cNvPr id="19" name="Text 16"/>
          <p:cNvSpPr/>
          <p:nvPr/>
        </p:nvSpPr>
        <p:spPr>
          <a:xfrm>
            <a:off x="1521470" y="2457227"/>
            <a:ext cx="114226" cy="1428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37927" y="2766640"/>
            <a:ext cx="1645518" cy="156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DRIVER ANALYTICS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7927" y="2963391"/>
            <a:ext cx="2281386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Driver slicer (select any driver) · 5 dynamic KPI cards · Top 10 Drivers bar · Career Win Progression line chart · Wins vs Podiums column chart · Win Efficiency bar chart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2890912" y="2528664"/>
            <a:ext cx="2490862" cy="1215182"/>
          </a:xfrm>
          <a:prstGeom prst="roundRect">
            <a:avLst>
              <a:gd name="adj" fmla="val 3762"/>
            </a:avLst>
          </a:prstGeom>
          <a:solidFill>
            <a:srgbClr val="0A0A0A">
              <a:alpha val="95000"/>
            </a:srgbClr>
          </a:solidFill>
          <a:ln w="9525">
            <a:solidFill>
              <a:srgbClr val="8D242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890912" y="2519139"/>
            <a:ext cx="2490862" cy="38100"/>
          </a:xfrm>
          <a:prstGeom prst="roundRect">
            <a:avLst>
              <a:gd name="adj" fmla="val 104959"/>
            </a:avLst>
          </a:prstGeom>
          <a:solidFill>
            <a:srgbClr val="C91313"/>
          </a:solidFill>
          <a:ln/>
        </p:spPr>
      </p:sp>
      <p:sp>
        <p:nvSpPr>
          <p:cNvPr id="24" name="Shape 21"/>
          <p:cNvSpPr/>
          <p:nvPr/>
        </p:nvSpPr>
        <p:spPr>
          <a:xfrm>
            <a:off x="3993505" y="2385864"/>
            <a:ext cx="285601" cy="285601"/>
          </a:xfrm>
          <a:prstGeom prst="roundRect">
            <a:avLst>
              <a:gd name="adj" fmla="val 200104"/>
            </a:avLst>
          </a:prstGeom>
          <a:solidFill>
            <a:srgbClr val="C91313"/>
          </a:solidFill>
          <a:ln/>
        </p:spPr>
      </p:sp>
      <p:sp>
        <p:nvSpPr>
          <p:cNvPr id="25" name="Text 22"/>
          <p:cNvSpPr/>
          <p:nvPr/>
        </p:nvSpPr>
        <p:spPr>
          <a:xfrm>
            <a:off x="4079156" y="2457227"/>
            <a:ext cx="114226" cy="1428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4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2995612" y="2766640"/>
            <a:ext cx="2281461" cy="313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CONSTRUCTOR DOMINANCE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2995612" y="3120033"/>
            <a:ext cx="2281461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Constructor slicer · Top 10 All-Time Wins bar · Constructor Dominance by Decade line · Wins vs DNFs Reliability chart · Most Unreliable Constructors bar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333226" y="3953545"/>
            <a:ext cx="5048548" cy="798984"/>
          </a:xfrm>
          <a:prstGeom prst="roundRect">
            <a:avLst>
              <a:gd name="adj" fmla="val 5722"/>
            </a:avLst>
          </a:prstGeom>
          <a:solidFill>
            <a:srgbClr val="0A0A0A">
              <a:alpha val="95000"/>
            </a:srgbClr>
          </a:solidFill>
          <a:ln w="9525">
            <a:solidFill>
              <a:srgbClr val="8D242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33226" y="3944020"/>
            <a:ext cx="5048548" cy="38100"/>
          </a:xfrm>
          <a:prstGeom prst="roundRect">
            <a:avLst>
              <a:gd name="adj" fmla="val 104959"/>
            </a:avLst>
          </a:prstGeom>
          <a:solidFill>
            <a:srgbClr val="C91313"/>
          </a:solidFill>
          <a:ln/>
        </p:spPr>
      </p:sp>
      <p:sp>
        <p:nvSpPr>
          <p:cNvPr id="30" name="Shape 27"/>
          <p:cNvSpPr/>
          <p:nvPr/>
        </p:nvSpPr>
        <p:spPr>
          <a:xfrm>
            <a:off x="2714699" y="3810744"/>
            <a:ext cx="285601" cy="285601"/>
          </a:xfrm>
          <a:prstGeom prst="roundRect">
            <a:avLst>
              <a:gd name="adj" fmla="val 200104"/>
            </a:avLst>
          </a:prstGeom>
          <a:solidFill>
            <a:srgbClr val="C91313"/>
          </a:solidFill>
          <a:ln/>
        </p:spPr>
      </p:sp>
      <p:sp>
        <p:nvSpPr>
          <p:cNvPr id="31" name="Text 28"/>
          <p:cNvSpPr/>
          <p:nvPr/>
        </p:nvSpPr>
        <p:spPr>
          <a:xfrm>
            <a:off x="2800350" y="3882107"/>
            <a:ext cx="114226" cy="1428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5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37927" y="4191521"/>
            <a:ext cx="2041401" cy="156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CIRCUIT INTELLIGENCE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437927" y="4388272"/>
            <a:ext cx="4839146" cy="259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Country slicer · 4 KPI cards (77 circuits, 35 countries) · World Map (77 circuits plotted) · Most Used Circuits bar · Race Wins by Host Country donut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1360" y="239985"/>
            <a:ext cx="4193753" cy="264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KEY INSIGHTS &amp; FINDINGS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281360" y="616148"/>
            <a:ext cx="5152281" cy="265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0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105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1766739" y="957486"/>
            <a:ext cx="2181523" cy="132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Lewis Hamilton All-Time Race Wins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281360" y="1225376"/>
            <a:ext cx="5152281" cy="265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0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249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1784226" y="1566714"/>
            <a:ext cx="2146474" cy="132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Ferrari All-Time Constructor Wins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81360" y="1834604"/>
            <a:ext cx="5152281" cy="265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0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29.49%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2230636" y="2175942"/>
            <a:ext cx="1253654" cy="132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Hamilton Win Rate %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81360" y="2443832"/>
            <a:ext cx="5152281" cy="265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0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11.66%</a:t>
            </a:r>
            <a:endParaRPr lang="en-US" sz="2050" dirty="0"/>
          </a:p>
        </p:txBody>
      </p:sp>
      <p:sp>
        <p:nvSpPr>
          <p:cNvPr id="11" name="Text 8"/>
          <p:cNvSpPr/>
          <p:nvPr/>
        </p:nvSpPr>
        <p:spPr>
          <a:xfrm>
            <a:off x="1936179" y="2785170"/>
            <a:ext cx="1842567" cy="132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Mercedes Lowest DNF Rate %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81360" y="2971056"/>
            <a:ext cx="160734" cy="1004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FFE5E5"/>
                </a:solidFill>
                <a:latin typeface="Dela Gothic One Light" pitchFamily="34" charset="0"/>
                <a:ea typeface="Dela Gothic One Light" pitchFamily="34" charset="-122"/>
                <a:cs typeface="Dela Gothic One Light" pitchFamily="34" charset="-120"/>
              </a:rPr>
              <a:t>01</a:t>
            </a:r>
            <a:endParaRPr lang="en-US" sz="600" dirty="0"/>
          </a:p>
        </p:txBody>
      </p:sp>
      <p:sp>
        <p:nvSpPr>
          <p:cNvPr id="13" name="Shape 10"/>
          <p:cNvSpPr/>
          <p:nvPr/>
        </p:nvSpPr>
        <p:spPr>
          <a:xfrm>
            <a:off x="281360" y="3098155"/>
            <a:ext cx="2552254" cy="9525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14" name="Text 11"/>
          <p:cNvSpPr/>
          <p:nvPr/>
        </p:nvSpPr>
        <p:spPr>
          <a:xfrm>
            <a:off x="281360" y="3157389"/>
            <a:ext cx="1057870" cy="132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1950s–1960s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81360" y="3318197"/>
            <a:ext cx="2552254" cy="307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Ferrari dominated early F1 — 30 wins in the 1950s, establishing the most decorated constructor record in history with 249 all-time wins.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2881313" y="2971056"/>
            <a:ext cx="160734" cy="1004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FFE5E5"/>
                </a:solidFill>
                <a:latin typeface="Dela Gothic One Light" pitchFamily="34" charset="0"/>
                <a:ea typeface="Dela Gothic One Light" pitchFamily="34" charset="-122"/>
                <a:cs typeface="Dela Gothic One Light" pitchFamily="34" charset="-120"/>
              </a:rPr>
              <a:t>02</a:t>
            </a:r>
            <a:endParaRPr lang="en-US" sz="600" dirty="0"/>
          </a:p>
        </p:txBody>
      </p:sp>
      <p:sp>
        <p:nvSpPr>
          <p:cNvPr id="17" name="Shape 14"/>
          <p:cNvSpPr/>
          <p:nvPr/>
        </p:nvSpPr>
        <p:spPr>
          <a:xfrm>
            <a:off x="2881313" y="3098155"/>
            <a:ext cx="2552328" cy="9525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18" name="Text 15"/>
          <p:cNvSpPr/>
          <p:nvPr/>
        </p:nvSpPr>
        <p:spPr>
          <a:xfrm>
            <a:off x="2881313" y="3157389"/>
            <a:ext cx="1057870" cy="132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1980s–1990s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881313" y="3318197"/>
            <a:ext cx="2552328" cy="204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McLaren and Williams rivalry defined the era. McLaren's 85 wins in the 1980s remains their peak decade performance.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281360" y="3733577"/>
            <a:ext cx="160734" cy="1004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FFE5E5"/>
                </a:solidFill>
                <a:latin typeface="Dela Gothic One Light" pitchFamily="34" charset="0"/>
                <a:ea typeface="Dela Gothic One Light" pitchFamily="34" charset="-122"/>
                <a:cs typeface="Dela Gothic One Light" pitchFamily="34" charset="-120"/>
              </a:rPr>
              <a:t>03</a:t>
            </a:r>
            <a:endParaRPr lang="en-US" sz="600" dirty="0"/>
          </a:p>
        </p:txBody>
      </p:sp>
      <p:sp>
        <p:nvSpPr>
          <p:cNvPr id="21" name="Shape 18"/>
          <p:cNvSpPr/>
          <p:nvPr/>
        </p:nvSpPr>
        <p:spPr>
          <a:xfrm>
            <a:off x="281360" y="3860676"/>
            <a:ext cx="2552254" cy="9525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22" name="Text 19"/>
          <p:cNvSpPr/>
          <p:nvPr/>
        </p:nvSpPr>
        <p:spPr>
          <a:xfrm>
            <a:off x="281360" y="3919910"/>
            <a:ext cx="1057870" cy="132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2000s Era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281360" y="4080718"/>
            <a:ext cx="2552254" cy="204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Ferrari's Schumacher years — 5 consecutive championships (2000–2004) produced 61 wins in a single decade.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2881313" y="3733577"/>
            <a:ext cx="160734" cy="1004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FFE5E5"/>
                </a:solidFill>
                <a:latin typeface="Dela Gothic One Light" pitchFamily="34" charset="0"/>
                <a:ea typeface="Dela Gothic One Light" pitchFamily="34" charset="-122"/>
                <a:cs typeface="Dela Gothic One Light" pitchFamily="34" charset="-120"/>
              </a:rPr>
              <a:t>04</a:t>
            </a:r>
            <a:endParaRPr lang="en-US" sz="600" dirty="0"/>
          </a:p>
        </p:txBody>
      </p:sp>
      <p:sp>
        <p:nvSpPr>
          <p:cNvPr id="25" name="Shape 22"/>
          <p:cNvSpPr/>
          <p:nvPr/>
        </p:nvSpPr>
        <p:spPr>
          <a:xfrm>
            <a:off x="2881313" y="3860676"/>
            <a:ext cx="2552328" cy="9525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26" name="Text 23"/>
          <p:cNvSpPr/>
          <p:nvPr/>
        </p:nvSpPr>
        <p:spPr>
          <a:xfrm>
            <a:off x="2881313" y="3919910"/>
            <a:ext cx="1057870" cy="132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2010s Era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2881313" y="4080718"/>
            <a:ext cx="2552328" cy="204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Mercedes absolute dominance — 93 wins in the 2010s. Hamilton's peak seasons: 11 wins in both 2014 and 2015.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281360" y="4393629"/>
            <a:ext cx="160734" cy="1004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FFE5E5"/>
                </a:solidFill>
                <a:latin typeface="Dela Gothic One Light" pitchFamily="34" charset="0"/>
                <a:ea typeface="Dela Gothic One Light" pitchFamily="34" charset="-122"/>
                <a:cs typeface="Dela Gothic One Light" pitchFamily="34" charset="-120"/>
              </a:rPr>
              <a:t>05</a:t>
            </a:r>
            <a:endParaRPr lang="en-US" sz="600" dirty="0"/>
          </a:p>
        </p:txBody>
      </p:sp>
      <p:sp>
        <p:nvSpPr>
          <p:cNvPr id="29" name="Shape 26"/>
          <p:cNvSpPr/>
          <p:nvPr/>
        </p:nvSpPr>
        <p:spPr>
          <a:xfrm>
            <a:off x="281360" y="4520729"/>
            <a:ext cx="5152281" cy="9525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30" name="Text 27"/>
          <p:cNvSpPr/>
          <p:nvPr/>
        </p:nvSpPr>
        <p:spPr>
          <a:xfrm>
            <a:off x="281360" y="4579962"/>
            <a:ext cx="1057870" cy="132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2020s Era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281360" y="4740771"/>
            <a:ext cx="5152281" cy="102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 Bull surge begins — Verstappen era already at 60 wins in just 4 seasons (2021–2024). Championship dynasty forming.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4376" y="239613"/>
            <a:ext cx="5226248" cy="459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DAX MEASURES &amp; TECHNICAL IMPLEMENTATION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244376" y="788789"/>
            <a:ext cx="1661443" cy="114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8 DAX Measures Built: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244376" y="939552"/>
            <a:ext cx="2985195" cy="84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0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Total_wins</a:t>
            </a:r>
            <a:endParaRPr lang="en-US" sz="500" dirty="0"/>
          </a:p>
        </p:txBody>
      </p:sp>
      <p:sp>
        <p:nvSpPr>
          <p:cNvPr id="6" name="Shape 3"/>
          <p:cNvSpPr/>
          <p:nvPr/>
        </p:nvSpPr>
        <p:spPr>
          <a:xfrm>
            <a:off x="244376" y="1064642"/>
            <a:ext cx="2527995" cy="308818"/>
          </a:xfrm>
          <a:prstGeom prst="roundRect">
            <a:avLst>
              <a:gd name="adj" fmla="val 9496"/>
            </a:avLst>
          </a:prstGeom>
          <a:solidFill>
            <a:srgbClr val="171717"/>
          </a:solidFill>
          <a:ln/>
        </p:spPr>
      </p:sp>
      <p:sp>
        <p:nvSpPr>
          <p:cNvPr id="7" name="Shape 4"/>
          <p:cNvSpPr/>
          <p:nvPr/>
        </p:nvSpPr>
        <p:spPr>
          <a:xfrm>
            <a:off x="240953" y="1064642"/>
            <a:ext cx="2534841" cy="308818"/>
          </a:xfrm>
          <a:prstGeom prst="roundRect">
            <a:avLst>
              <a:gd name="adj" fmla="val 3391"/>
            </a:avLst>
          </a:prstGeom>
          <a:solidFill>
            <a:srgbClr val="171717"/>
          </a:solidFill>
          <a:ln/>
        </p:spPr>
      </p:sp>
      <p:sp>
        <p:nvSpPr>
          <p:cNvPr id="8" name="Text 5"/>
          <p:cNvSpPr/>
          <p:nvPr/>
        </p:nvSpPr>
        <p:spPr>
          <a:xfrm>
            <a:off x="328166" y="1134442"/>
            <a:ext cx="2360414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00" dirty="0">
                <a:solidFill>
                  <a:srgbClr val="FF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CALCULATE(COUNT(results[resultId]), results[positionOrder] = 1)</a:t>
            </a:r>
            <a:endParaRPr lang="en-US" sz="500" dirty="0"/>
          </a:p>
          <a:p>
            <a:pPr marL="0" indent="0" algn="l">
              <a:lnSpc>
                <a:spcPct val="101000"/>
              </a:lnSpc>
              <a:buNone/>
            </a:pPr>
            <a:r>
              <a:rPr lang="en-US" sz="500" dirty="0">
                <a:solidFill>
                  <a:srgbClr val="FF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500" dirty="0"/>
          </a:p>
        </p:txBody>
      </p:sp>
      <p:sp>
        <p:nvSpPr>
          <p:cNvPr id="9" name="Text 6"/>
          <p:cNvSpPr/>
          <p:nvPr/>
        </p:nvSpPr>
        <p:spPr>
          <a:xfrm>
            <a:off x="244376" y="1413942"/>
            <a:ext cx="2985195" cy="84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0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Total_podiums</a:t>
            </a:r>
            <a:endParaRPr lang="en-US" sz="500" dirty="0"/>
          </a:p>
        </p:txBody>
      </p:sp>
      <p:sp>
        <p:nvSpPr>
          <p:cNvPr id="10" name="Shape 7"/>
          <p:cNvSpPr/>
          <p:nvPr/>
        </p:nvSpPr>
        <p:spPr>
          <a:xfrm>
            <a:off x="244376" y="1539032"/>
            <a:ext cx="2527995" cy="308818"/>
          </a:xfrm>
          <a:prstGeom prst="roundRect">
            <a:avLst>
              <a:gd name="adj" fmla="val 9496"/>
            </a:avLst>
          </a:prstGeom>
          <a:solidFill>
            <a:srgbClr val="171717"/>
          </a:solidFill>
          <a:ln/>
        </p:spPr>
      </p:sp>
      <p:sp>
        <p:nvSpPr>
          <p:cNvPr id="11" name="Shape 8"/>
          <p:cNvSpPr/>
          <p:nvPr/>
        </p:nvSpPr>
        <p:spPr>
          <a:xfrm>
            <a:off x="240953" y="1539032"/>
            <a:ext cx="2534841" cy="308818"/>
          </a:xfrm>
          <a:prstGeom prst="roundRect">
            <a:avLst>
              <a:gd name="adj" fmla="val 3391"/>
            </a:avLst>
          </a:prstGeom>
          <a:solidFill>
            <a:srgbClr val="171717"/>
          </a:solidFill>
          <a:ln/>
        </p:spPr>
      </p:sp>
      <p:sp>
        <p:nvSpPr>
          <p:cNvPr id="12" name="Text 9"/>
          <p:cNvSpPr/>
          <p:nvPr/>
        </p:nvSpPr>
        <p:spPr>
          <a:xfrm>
            <a:off x="328166" y="1608832"/>
            <a:ext cx="2360414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00" dirty="0">
                <a:solidFill>
                  <a:srgbClr val="FF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CALCULATE(COUNT(results[resultId]), results[positionOrder] &lt;= 3)</a:t>
            </a:r>
            <a:endParaRPr lang="en-US" sz="500" dirty="0"/>
          </a:p>
          <a:p>
            <a:pPr marL="0" indent="0" algn="l">
              <a:lnSpc>
                <a:spcPct val="101000"/>
              </a:lnSpc>
              <a:buNone/>
            </a:pPr>
            <a:r>
              <a:rPr lang="en-US" sz="500" dirty="0">
                <a:solidFill>
                  <a:srgbClr val="FF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500" dirty="0"/>
          </a:p>
        </p:txBody>
      </p:sp>
      <p:sp>
        <p:nvSpPr>
          <p:cNvPr id="13" name="Text 10"/>
          <p:cNvSpPr/>
          <p:nvPr/>
        </p:nvSpPr>
        <p:spPr>
          <a:xfrm>
            <a:off x="244376" y="1888331"/>
            <a:ext cx="2985195" cy="84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0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Win Rate %</a:t>
            </a:r>
            <a:endParaRPr lang="en-US" sz="500" dirty="0"/>
          </a:p>
        </p:txBody>
      </p:sp>
      <p:sp>
        <p:nvSpPr>
          <p:cNvPr id="14" name="Shape 11"/>
          <p:cNvSpPr/>
          <p:nvPr/>
        </p:nvSpPr>
        <p:spPr>
          <a:xfrm>
            <a:off x="244376" y="2013421"/>
            <a:ext cx="2527995" cy="308818"/>
          </a:xfrm>
          <a:prstGeom prst="roundRect">
            <a:avLst>
              <a:gd name="adj" fmla="val 9496"/>
            </a:avLst>
          </a:prstGeom>
          <a:solidFill>
            <a:srgbClr val="171717"/>
          </a:solidFill>
          <a:ln/>
        </p:spPr>
      </p:sp>
      <p:sp>
        <p:nvSpPr>
          <p:cNvPr id="15" name="Shape 12"/>
          <p:cNvSpPr/>
          <p:nvPr/>
        </p:nvSpPr>
        <p:spPr>
          <a:xfrm>
            <a:off x="240953" y="2013421"/>
            <a:ext cx="2534841" cy="308818"/>
          </a:xfrm>
          <a:prstGeom prst="roundRect">
            <a:avLst>
              <a:gd name="adj" fmla="val 3391"/>
            </a:avLst>
          </a:prstGeom>
          <a:solidFill>
            <a:srgbClr val="171717"/>
          </a:solidFill>
          <a:ln/>
        </p:spPr>
      </p:sp>
      <p:sp>
        <p:nvSpPr>
          <p:cNvPr id="16" name="Text 13"/>
          <p:cNvSpPr/>
          <p:nvPr/>
        </p:nvSpPr>
        <p:spPr>
          <a:xfrm>
            <a:off x="328166" y="2083222"/>
            <a:ext cx="2360414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00" dirty="0">
                <a:solidFill>
                  <a:srgbClr val="FF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DIVIDE([Total_wins], [Total_Races], 0)</a:t>
            </a:r>
            <a:endParaRPr lang="en-US" sz="500" dirty="0"/>
          </a:p>
          <a:p>
            <a:pPr marL="0" indent="0" algn="l">
              <a:lnSpc>
                <a:spcPct val="101000"/>
              </a:lnSpc>
              <a:buNone/>
            </a:pPr>
            <a:r>
              <a:rPr lang="en-US" sz="500" dirty="0">
                <a:solidFill>
                  <a:srgbClr val="FF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500" dirty="0"/>
          </a:p>
        </p:txBody>
      </p:sp>
      <p:sp>
        <p:nvSpPr>
          <p:cNvPr id="17" name="Text 14"/>
          <p:cNvSpPr/>
          <p:nvPr/>
        </p:nvSpPr>
        <p:spPr>
          <a:xfrm>
            <a:off x="244376" y="2362721"/>
            <a:ext cx="2985195" cy="84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0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DNF count</a:t>
            </a:r>
            <a:endParaRPr lang="en-US" sz="500" dirty="0"/>
          </a:p>
        </p:txBody>
      </p:sp>
      <p:sp>
        <p:nvSpPr>
          <p:cNvPr id="18" name="Shape 15"/>
          <p:cNvSpPr/>
          <p:nvPr/>
        </p:nvSpPr>
        <p:spPr>
          <a:xfrm>
            <a:off x="244376" y="2487811"/>
            <a:ext cx="2527995" cy="478036"/>
          </a:xfrm>
          <a:prstGeom prst="roundRect">
            <a:avLst>
              <a:gd name="adj" fmla="val 6135"/>
            </a:avLst>
          </a:prstGeom>
          <a:solidFill>
            <a:srgbClr val="171717"/>
          </a:solidFill>
          <a:ln/>
        </p:spPr>
      </p:sp>
      <p:sp>
        <p:nvSpPr>
          <p:cNvPr id="19" name="Shape 16"/>
          <p:cNvSpPr/>
          <p:nvPr/>
        </p:nvSpPr>
        <p:spPr>
          <a:xfrm>
            <a:off x="240953" y="2487811"/>
            <a:ext cx="2534841" cy="478036"/>
          </a:xfrm>
          <a:prstGeom prst="roundRect">
            <a:avLst>
              <a:gd name="adj" fmla="val 2191"/>
            </a:avLst>
          </a:prstGeom>
          <a:solidFill>
            <a:srgbClr val="171717"/>
          </a:solidFill>
          <a:ln/>
        </p:spPr>
      </p:sp>
      <p:sp>
        <p:nvSpPr>
          <p:cNvPr id="20" name="Text 17"/>
          <p:cNvSpPr/>
          <p:nvPr/>
        </p:nvSpPr>
        <p:spPr>
          <a:xfrm>
            <a:off x="328166" y="2557611"/>
            <a:ext cx="2360414" cy="338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00" dirty="0">
                <a:solidFill>
                  <a:srgbClr val="FF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CALCULATE(COUNT(results[resultId]),</a:t>
            </a:r>
            <a:endParaRPr lang="en-US" sz="500" dirty="0"/>
          </a:p>
          <a:p>
            <a:pPr marL="0" indent="0" algn="l">
              <a:lnSpc>
                <a:spcPct val="101000"/>
              </a:lnSpc>
              <a:buNone/>
            </a:pPr>
            <a:r>
              <a:rPr lang="en-US" sz="500" dirty="0">
                <a:solidFill>
                  <a:srgbClr val="FF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FILTER('status', NOT('status'[status] IN</a:t>
            </a:r>
            <a:endParaRPr lang="en-US" sz="500" dirty="0"/>
          </a:p>
          <a:p>
            <a:pPr marL="0" indent="0" algn="l">
              <a:lnSpc>
                <a:spcPct val="101000"/>
              </a:lnSpc>
              <a:buNone/>
            </a:pPr>
            <a:r>
              <a:rPr lang="en-US" sz="500" dirty="0">
                <a:solidFill>
                  <a:srgbClr val="FF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{"Finished", "+1 Lap", "+2 Laps"... "+26 Laps"})))</a:t>
            </a:r>
            <a:endParaRPr lang="en-US" sz="500" dirty="0"/>
          </a:p>
          <a:p>
            <a:pPr marL="0" indent="0" algn="l">
              <a:lnSpc>
                <a:spcPct val="101000"/>
              </a:lnSpc>
              <a:buNone/>
            </a:pPr>
            <a:r>
              <a:rPr lang="en-US" sz="500" dirty="0">
                <a:solidFill>
                  <a:srgbClr val="FF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500" dirty="0"/>
          </a:p>
        </p:txBody>
      </p:sp>
      <p:sp>
        <p:nvSpPr>
          <p:cNvPr id="21" name="Text 18"/>
          <p:cNvSpPr/>
          <p:nvPr/>
        </p:nvSpPr>
        <p:spPr>
          <a:xfrm>
            <a:off x="244376" y="3006328"/>
            <a:ext cx="2985195" cy="84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0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DNF Rate %</a:t>
            </a:r>
            <a:endParaRPr lang="en-US" sz="500" dirty="0"/>
          </a:p>
        </p:txBody>
      </p:sp>
      <p:sp>
        <p:nvSpPr>
          <p:cNvPr id="22" name="Shape 19"/>
          <p:cNvSpPr/>
          <p:nvPr/>
        </p:nvSpPr>
        <p:spPr>
          <a:xfrm>
            <a:off x="244376" y="3131418"/>
            <a:ext cx="2527995" cy="308818"/>
          </a:xfrm>
          <a:prstGeom prst="roundRect">
            <a:avLst>
              <a:gd name="adj" fmla="val 9496"/>
            </a:avLst>
          </a:prstGeom>
          <a:solidFill>
            <a:srgbClr val="171717"/>
          </a:solidFill>
          <a:ln/>
        </p:spPr>
      </p:sp>
      <p:sp>
        <p:nvSpPr>
          <p:cNvPr id="23" name="Shape 20"/>
          <p:cNvSpPr/>
          <p:nvPr/>
        </p:nvSpPr>
        <p:spPr>
          <a:xfrm>
            <a:off x="240953" y="3131418"/>
            <a:ext cx="2534841" cy="308818"/>
          </a:xfrm>
          <a:prstGeom prst="roundRect">
            <a:avLst>
              <a:gd name="adj" fmla="val 3391"/>
            </a:avLst>
          </a:prstGeom>
          <a:solidFill>
            <a:srgbClr val="171717"/>
          </a:solidFill>
          <a:ln/>
        </p:spPr>
      </p:sp>
      <p:sp>
        <p:nvSpPr>
          <p:cNvPr id="24" name="Text 21"/>
          <p:cNvSpPr/>
          <p:nvPr/>
        </p:nvSpPr>
        <p:spPr>
          <a:xfrm>
            <a:off x="328166" y="3201219"/>
            <a:ext cx="2360414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00" dirty="0">
                <a:solidFill>
                  <a:srgbClr val="FF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DIVIDE([DNF count], [Total_Races], 0)</a:t>
            </a:r>
            <a:endParaRPr lang="en-US" sz="500" dirty="0"/>
          </a:p>
          <a:p>
            <a:pPr marL="0" indent="0" algn="l">
              <a:lnSpc>
                <a:spcPct val="101000"/>
              </a:lnSpc>
              <a:buNone/>
            </a:pPr>
            <a:r>
              <a:rPr lang="en-US" sz="500" dirty="0">
                <a:solidFill>
                  <a:srgbClr val="FF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500" dirty="0"/>
          </a:p>
        </p:txBody>
      </p:sp>
      <p:sp>
        <p:nvSpPr>
          <p:cNvPr id="25" name="Text 22"/>
          <p:cNvSpPr/>
          <p:nvPr/>
        </p:nvSpPr>
        <p:spPr>
          <a:xfrm>
            <a:off x="244376" y="3480718"/>
            <a:ext cx="2985195" cy="84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0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 Win Rate %</a:t>
            </a:r>
            <a:endParaRPr lang="en-US" sz="500" dirty="0"/>
          </a:p>
        </p:txBody>
      </p:sp>
      <p:sp>
        <p:nvSpPr>
          <p:cNvPr id="26" name="Shape 23"/>
          <p:cNvSpPr/>
          <p:nvPr/>
        </p:nvSpPr>
        <p:spPr>
          <a:xfrm>
            <a:off x="244376" y="3605808"/>
            <a:ext cx="2527995" cy="308818"/>
          </a:xfrm>
          <a:prstGeom prst="roundRect">
            <a:avLst>
              <a:gd name="adj" fmla="val 9496"/>
            </a:avLst>
          </a:prstGeom>
          <a:solidFill>
            <a:srgbClr val="171717"/>
          </a:solidFill>
          <a:ln/>
        </p:spPr>
      </p:sp>
      <p:sp>
        <p:nvSpPr>
          <p:cNvPr id="27" name="Shape 24"/>
          <p:cNvSpPr/>
          <p:nvPr/>
        </p:nvSpPr>
        <p:spPr>
          <a:xfrm>
            <a:off x="240953" y="3605808"/>
            <a:ext cx="2534841" cy="308818"/>
          </a:xfrm>
          <a:prstGeom prst="roundRect">
            <a:avLst>
              <a:gd name="adj" fmla="val 3391"/>
            </a:avLst>
          </a:prstGeom>
          <a:solidFill>
            <a:srgbClr val="171717"/>
          </a:solidFill>
          <a:ln/>
        </p:spPr>
      </p:sp>
      <p:sp>
        <p:nvSpPr>
          <p:cNvPr id="28" name="Text 25"/>
          <p:cNvSpPr/>
          <p:nvPr/>
        </p:nvSpPr>
        <p:spPr>
          <a:xfrm>
            <a:off x="328166" y="3675608"/>
            <a:ext cx="2360414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00" dirty="0">
                <a:solidFill>
                  <a:srgbClr val="FF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AVERAGEX(VALUES(drivers[driverId]), [Win Rate %])</a:t>
            </a:r>
            <a:endParaRPr lang="en-US" sz="500" dirty="0"/>
          </a:p>
          <a:p>
            <a:pPr marL="0" indent="0" algn="l">
              <a:lnSpc>
                <a:spcPct val="101000"/>
              </a:lnSpc>
              <a:buNone/>
            </a:pPr>
            <a:r>
              <a:rPr lang="en-US" sz="500" dirty="0">
                <a:solidFill>
                  <a:srgbClr val="FF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500" dirty="0"/>
          </a:p>
        </p:txBody>
      </p:sp>
      <p:sp>
        <p:nvSpPr>
          <p:cNvPr id="29" name="Text 26"/>
          <p:cNvSpPr/>
          <p:nvPr/>
        </p:nvSpPr>
        <p:spPr>
          <a:xfrm>
            <a:off x="244376" y="3955107"/>
            <a:ext cx="2985195" cy="84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0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Races_Held</a:t>
            </a:r>
            <a:endParaRPr lang="en-US" sz="500" dirty="0"/>
          </a:p>
        </p:txBody>
      </p:sp>
      <p:sp>
        <p:nvSpPr>
          <p:cNvPr id="30" name="Shape 27"/>
          <p:cNvSpPr/>
          <p:nvPr/>
        </p:nvSpPr>
        <p:spPr>
          <a:xfrm>
            <a:off x="244376" y="4080197"/>
            <a:ext cx="2527995" cy="308818"/>
          </a:xfrm>
          <a:prstGeom prst="roundRect">
            <a:avLst>
              <a:gd name="adj" fmla="val 9496"/>
            </a:avLst>
          </a:prstGeom>
          <a:solidFill>
            <a:srgbClr val="171717"/>
          </a:solidFill>
          <a:ln/>
        </p:spPr>
      </p:sp>
      <p:sp>
        <p:nvSpPr>
          <p:cNvPr id="31" name="Shape 28"/>
          <p:cNvSpPr/>
          <p:nvPr/>
        </p:nvSpPr>
        <p:spPr>
          <a:xfrm>
            <a:off x="240953" y="4080197"/>
            <a:ext cx="2534841" cy="308818"/>
          </a:xfrm>
          <a:prstGeom prst="roundRect">
            <a:avLst>
              <a:gd name="adj" fmla="val 3391"/>
            </a:avLst>
          </a:prstGeom>
          <a:solidFill>
            <a:srgbClr val="171717"/>
          </a:solidFill>
          <a:ln/>
        </p:spPr>
      </p:sp>
      <p:sp>
        <p:nvSpPr>
          <p:cNvPr id="32" name="Text 29"/>
          <p:cNvSpPr/>
          <p:nvPr/>
        </p:nvSpPr>
        <p:spPr>
          <a:xfrm>
            <a:off x="328166" y="4149998"/>
            <a:ext cx="2360414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00" dirty="0">
                <a:solidFill>
                  <a:srgbClr val="FF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DISTINCTCOUNT(races[raceId])</a:t>
            </a:r>
            <a:endParaRPr lang="en-US" sz="500" dirty="0"/>
          </a:p>
          <a:p>
            <a:pPr marL="0" indent="0" algn="l">
              <a:lnSpc>
                <a:spcPct val="101000"/>
              </a:lnSpc>
              <a:buNone/>
            </a:pPr>
            <a:r>
              <a:rPr lang="en-US" sz="500" dirty="0">
                <a:solidFill>
                  <a:srgbClr val="FF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500" dirty="0"/>
          </a:p>
        </p:txBody>
      </p:sp>
      <p:sp>
        <p:nvSpPr>
          <p:cNvPr id="33" name="Text 30"/>
          <p:cNvSpPr/>
          <p:nvPr/>
        </p:nvSpPr>
        <p:spPr>
          <a:xfrm>
            <a:off x="244376" y="4429497"/>
            <a:ext cx="2985195" cy="84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0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Total_Circuits</a:t>
            </a:r>
            <a:endParaRPr lang="en-US" sz="500" dirty="0"/>
          </a:p>
        </p:txBody>
      </p:sp>
      <p:sp>
        <p:nvSpPr>
          <p:cNvPr id="34" name="Shape 31"/>
          <p:cNvSpPr/>
          <p:nvPr/>
        </p:nvSpPr>
        <p:spPr>
          <a:xfrm>
            <a:off x="244376" y="4554587"/>
            <a:ext cx="2527995" cy="308818"/>
          </a:xfrm>
          <a:prstGeom prst="roundRect">
            <a:avLst>
              <a:gd name="adj" fmla="val 9496"/>
            </a:avLst>
          </a:prstGeom>
          <a:solidFill>
            <a:srgbClr val="171717"/>
          </a:solidFill>
          <a:ln/>
        </p:spPr>
      </p:sp>
      <p:sp>
        <p:nvSpPr>
          <p:cNvPr id="35" name="Shape 32"/>
          <p:cNvSpPr/>
          <p:nvPr/>
        </p:nvSpPr>
        <p:spPr>
          <a:xfrm>
            <a:off x="240953" y="4554587"/>
            <a:ext cx="2534841" cy="308818"/>
          </a:xfrm>
          <a:prstGeom prst="roundRect">
            <a:avLst>
              <a:gd name="adj" fmla="val 3391"/>
            </a:avLst>
          </a:prstGeom>
          <a:solidFill>
            <a:srgbClr val="171717"/>
          </a:solidFill>
          <a:ln/>
        </p:spPr>
      </p:sp>
      <p:sp>
        <p:nvSpPr>
          <p:cNvPr id="36" name="Text 33"/>
          <p:cNvSpPr/>
          <p:nvPr/>
        </p:nvSpPr>
        <p:spPr>
          <a:xfrm>
            <a:off x="328166" y="4624388"/>
            <a:ext cx="2360414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00" dirty="0">
                <a:solidFill>
                  <a:srgbClr val="FF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DISTINCTCOUNT(circuits[circuitId])</a:t>
            </a:r>
            <a:endParaRPr lang="en-US" sz="500" dirty="0"/>
          </a:p>
          <a:p>
            <a:pPr marL="0" indent="0" algn="l">
              <a:lnSpc>
                <a:spcPct val="101000"/>
              </a:lnSpc>
              <a:buNone/>
            </a:pPr>
            <a:r>
              <a:rPr lang="en-US" sz="500" dirty="0">
                <a:solidFill>
                  <a:srgbClr val="FF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500" dirty="0"/>
          </a:p>
        </p:txBody>
      </p:sp>
      <p:sp>
        <p:nvSpPr>
          <p:cNvPr id="37" name="Text 34"/>
          <p:cNvSpPr/>
          <p:nvPr/>
        </p:nvSpPr>
        <p:spPr>
          <a:xfrm>
            <a:off x="2947392" y="788789"/>
            <a:ext cx="2239491" cy="114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8 Technical Skills Demonstrated: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2947392" y="939552"/>
            <a:ext cx="2527995" cy="1864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1000"/>
              </a:lnSpc>
              <a:buSzPct val="100000"/>
              <a:buChar char="•"/>
            </a:pPr>
            <a:r>
              <a:rPr lang="en-US" sz="5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⚡</a:t>
            </a:r>
            <a:r>
              <a:rPr lang="en-US" sz="5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Star Schema Data Modelling</a:t>
            </a:r>
            <a:endParaRPr lang="en-US" sz="500" dirty="0"/>
          </a:p>
          <a:p>
            <a:pPr marL="342900" indent="-342900" algn="l">
              <a:lnSpc>
                <a:spcPct val="101000"/>
              </a:lnSpc>
              <a:buSzPct val="100000"/>
              <a:buChar char="​"/>
            </a:pPr>
            <a:r>
              <a:rPr lang="en-US" sz="5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 relational tables with active relationships in Power BI Model View</a:t>
            </a:r>
            <a:endParaRPr lang="en-US" sz="500" dirty="0"/>
          </a:p>
          <a:p>
            <a:pPr marL="342900" indent="-342900" algn="l">
              <a:lnSpc>
                <a:spcPct val="101000"/>
              </a:lnSpc>
              <a:buSzPct val="100000"/>
              <a:buChar char="•"/>
            </a:pPr>
            <a:r>
              <a:rPr lang="en-US" sz="5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⚡</a:t>
            </a:r>
            <a:r>
              <a:rPr lang="en-US" sz="5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Power Query (ETL)</a:t>
            </a:r>
            <a:endParaRPr lang="en-US" sz="500" dirty="0"/>
          </a:p>
          <a:p>
            <a:pPr marL="342900" indent="-342900" algn="l">
              <a:lnSpc>
                <a:spcPct val="101000"/>
              </a:lnSpc>
              <a:buSzPct val="100000"/>
              <a:buChar char="​"/>
            </a:pPr>
            <a:r>
              <a:rPr lang="en-US" sz="5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Null handling, type conversion, calculated columns (Decade, DecadeSort, Driver_Full_Name)</a:t>
            </a:r>
            <a:endParaRPr lang="en-US" sz="500" dirty="0"/>
          </a:p>
          <a:p>
            <a:pPr marL="342900" indent="-342900" algn="l">
              <a:lnSpc>
                <a:spcPct val="101000"/>
              </a:lnSpc>
              <a:buSzPct val="100000"/>
              <a:buChar char="•"/>
            </a:pPr>
            <a:r>
              <a:rPr lang="en-US" sz="5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⚡</a:t>
            </a:r>
            <a:r>
              <a:rPr lang="en-US" sz="5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DAX Time Intelligence</a:t>
            </a:r>
            <a:endParaRPr lang="en-US" sz="500" dirty="0"/>
          </a:p>
          <a:p>
            <a:pPr marL="342900" indent="-342900" algn="l">
              <a:lnSpc>
                <a:spcPct val="101000"/>
              </a:lnSpc>
              <a:buSzPct val="100000"/>
              <a:buChar char="​"/>
            </a:pPr>
            <a:r>
              <a:rPr lang="en-US" sz="5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Year/Decade filtering, DISTINCTCOUNT, TOPN, AVERAGEX functions</a:t>
            </a:r>
            <a:endParaRPr lang="en-US" sz="500" dirty="0"/>
          </a:p>
          <a:p>
            <a:pPr marL="342900" indent="-342900" algn="l">
              <a:lnSpc>
                <a:spcPct val="101000"/>
              </a:lnSpc>
              <a:buSzPct val="100000"/>
              <a:buChar char="•"/>
            </a:pPr>
            <a:r>
              <a:rPr lang="en-US" sz="5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⚡</a:t>
            </a:r>
            <a:r>
              <a:rPr lang="en-US" sz="5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Calculated Columns</a:t>
            </a:r>
            <a:endParaRPr lang="en-US" sz="500" dirty="0"/>
          </a:p>
          <a:p>
            <a:pPr marL="342900" indent="-342900" algn="l">
              <a:lnSpc>
                <a:spcPct val="101000"/>
              </a:lnSpc>
              <a:buSzPct val="100000"/>
              <a:buChar char="​"/>
            </a:pPr>
            <a:r>
              <a:rPr lang="en-US" sz="5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Decade = created using FLOOR(races[year], 10) to avoid circular dependency</a:t>
            </a:r>
            <a:endParaRPr lang="en-US" sz="500" dirty="0"/>
          </a:p>
          <a:p>
            <a:pPr marL="342900" indent="-342900" algn="l">
              <a:lnSpc>
                <a:spcPct val="101000"/>
              </a:lnSpc>
              <a:buSzPct val="100000"/>
              <a:buChar char="•"/>
            </a:pPr>
            <a:r>
              <a:rPr lang="en-US" sz="5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⚡</a:t>
            </a:r>
            <a:r>
              <a:rPr lang="en-US" sz="5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Geospatial Mapping</a:t>
            </a:r>
            <a:endParaRPr lang="en-US" sz="500" dirty="0"/>
          </a:p>
          <a:p>
            <a:pPr marL="342900" indent="-342900" algn="l">
              <a:lnSpc>
                <a:spcPct val="101000"/>
              </a:lnSpc>
              <a:buSzPct val="100000"/>
              <a:buChar char="​"/>
            </a:pPr>
            <a:r>
              <a:rPr lang="en-US" sz="5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77 circuits plotted on world map using lat/lon coordinates from circuits.csv</a:t>
            </a:r>
            <a:endParaRPr lang="en-US" sz="500" dirty="0"/>
          </a:p>
          <a:p>
            <a:pPr marL="342900" indent="-342900" algn="l">
              <a:lnSpc>
                <a:spcPct val="101000"/>
              </a:lnSpc>
              <a:buSzPct val="100000"/>
              <a:buChar char="•"/>
            </a:pPr>
            <a:r>
              <a:rPr lang="en-US" sz="5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⚡</a:t>
            </a:r>
            <a:r>
              <a:rPr lang="en-US" sz="5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Cross-filter Slicers</a:t>
            </a:r>
            <a:endParaRPr lang="en-US" sz="500" dirty="0"/>
          </a:p>
          <a:p>
            <a:pPr marL="342900" indent="-342900" algn="l">
              <a:lnSpc>
                <a:spcPct val="101000"/>
              </a:lnSpc>
              <a:buSzPct val="100000"/>
              <a:buChar char="​"/>
            </a:pPr>
            <a:r>
              <a:rPr lang="en-US" sz="5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Year, Driver, Constructor, Country slicers updating all page visuals dynamically</a:t>
            </a:r>
            <a:endParaRPr lang="en-US" sz="500" dirty="0"/>
          </a:p>
          <a:p>
            <a:pPr marL="342900" indent="-342900" algn="l">
              <a:lnSpc>
                <a:spcPct val="101000"/>
              </a:lnSpc>
              <a:buSzPct val="100000"/>
              <a:buChar char="•"/>
            </a:pPr>
            <a:r>
              <a:rPr lang="en-US" sz="5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⚡</a:t>
            </a:r>
            <a:r>
              <a:rPr lang="en-US" sz="5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Conditional Formatting</a:t>
            </a:r>
            <a:endParaRPr lang="en-US" sz="500" dirty="0"/>
          </a:p>
          <a:p>
            <a:pPr marL="342900" indent="-342900" algn="l">
              <a:lnSpc>
                <a:spcPct val="101000"/>
              </a:lnSpc>
              <a:buSzPct val="100000"/>
              <a:buChar char="​"/>
            </a:pPr>
            <a:r>
              <a:rPr lang="en-US" sz="5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color rules on bar charts for visual hierarchy and impact</a:t>
            </a:r>
            <a:endParaRPr lang="en-US" sz="500" dirty="0"/>
          </a:p>
          <a:p>
            <a:pPr marL="342900" indent="-342900" algn="l">
              <a:lnSpc>
                <a:spcPct val="101000"/>
              </a:lnSpc>
              <a:buSzPct val="100000"/>
              <a:buChar char="•"/>
            </a:pPr>
            <a:r>
              <a:rPr lang="en-US" sz="5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⚡</a:t>
            </a:r>
            <a:r>
              <a:rPr lang="en-US" sz="5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Navigation Buttons</a:t>
            </a:r>
            <a:endParaRPr lang="en-US" sz="500" dirty="0"/>
          </a:p>
          <a:p>
            <a:pPr marL="342900" indent="-342900" algn="l">
              <a:lnSpc>
                <a:spcPct val="101000"/>
              </a:lnSpc>
              <a:buSzPct val="100000"/>
              <a:buChar char="​"/>
            </a:pPr>
            <a:r>
              <a:rPr lang="en-US" sz="5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Action buttons on HOME page for professional UX navigation between 5 pages</a:t>
            </a:r>
            <a:endParaRPr lang="en-US" sz="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6168" y="311200"/>
            <a:ext cx="5539383" cy="278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METHODOLOGY — 6-STEP PROCESS</a:t>
            </a:r>
            <a:endParaRPr lang="en-US" sz="1750" dirty="0"/>
          </a:p>
        </p:txBody>
      </p:sp>
      <p:sp>
        <p:nvSpPr>
          <p:cNvPr id="4" name="Text 1"/>
          <p:cNvSpPr/>
          <p:nvPr/>
        </p:nvSpPr>
        <p:spPr>
          <a:xfrm>
            <a:off x="296168" y="668908"/>
            <a:ext cx="169218" cy="1057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FFE5E5"/>
                </a:solidFill>
                <a:latin typeface="Dela Gothic One Light" pitchFamily="34" charset="0"/>
                <a:ea typeface="Dela Gothic One Light" pitchFamily="34" charset="-122"/>
                <a:cs typeface="Dela Gothic One Light" pitchFamily="34" charset="-120"/>
              </a:rPr>
              <a:t>01</a:t>
            </a:r>
            <a:endParaRPr lang="en-US" sz="650" dirty="0"/>
          </a:p>
        </p:txBody>
      </p:sp>
      <p:sp>
        <p:nvSpPr>
          <p:cNvPr id="5" name="Shape 2"/>
          <p:cNvSpPr/>
          <p:nvPr/>
        </p:nvSpPr>
        <p:spPr>
          <a:xfrm>
            <a:off x="296168" y="803151"/>
            <a:ext cx="5122664" cy="9525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6" name="Text 3"/>
          <p:cNvSpPr/>
          <p:nvPr/>
        </p:nvSpPr>
        <p:spPr>
          <a:xfrm>
            <a:off x="296168" y="864468"/>
            <a:ext cx="1651546" cy="139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Step 01 — Data Collection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296168" y="1035323"/>
            <a:ext cx="5122664" cy="219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Downloaded all 14 CSV files from Kaggle (Formula 1 World Championship 1950–2024, Version 24). Reviewed data dictionary. Verified row counts and identified all primary and foreign key relationships.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296168" y="1371600"/>
            <a:ext cx="169218" cy="1057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FFE5E5"/>
                </a:solidFill>
                <a:latin typeface="Dela Gothic One Light" pitchFamily="34" charset="0"/>
                <a:ea typeface="Dela Gothic One Light" pitchFamily="34" charset="-122"/>
                <a:cs typeface="Dela Gothic One Light" pitchFamily="34" charset="-120"/>
              </a:rPr>
              <a:t>02</a:t>
            </a:r>
            <a:endParaRPr lang="en-US" sz="650" dirty="0"/>
          </a:p>
        </p:txBody>
      </p:sp>
      <p:sp>
        <p:nvSpPr>
          <p:cNvPr id="9" name="Shape 6"/>
          <p:cNvSpPr/>
          <p:nvPr/>
        </p:nvSpPr>
        <p:spPr>
          <a:xfrm>
            <a:off x="296168" y="1505843"/>
            <a:ext cx="5122664" cy="9525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10" name="Text 7"/>
          <p:cNvSpPr/>
          <p:nvPr/>
        </p:nvSpPr>
        <p:spPr>
          <a:xfrm>
            <a:off x="296168" y="1567160"/>
            <a:ext cx="1807146" cy="139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Step 02 — Data Preparation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296168" y="1738015"/>
            <a:ext cx="5122664" cy="219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 Query ETL — handled null values in pre-1980 records, standardized data types, created Decade column, DecadeSort column (FLOOR formula to avoid circular dependency), and Driver_Full_Name concatenated column.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296168" y="2074292"/>
            <a:ext cx="169218" cy="1057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FFE5E5"/>
                </a:solidFill>
                <a:latin typeface="Dela Gothic One Light" pitchFamily="34" charset="0"/>
                <a:ea typeface="Dela Gothic One Light" pitchFamily="34" charset="-122"/>
                <a:cs typeface="Dela Gothic One Light" pitchFamily="34" charset="-120"/>
              </a:rPr>
              <a:t>03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296168" y="2208535"/>
            <a:ext cx="5122664" cy="9525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14" name="Text 11"/>
          <p:cNvSpPr/>
          <p:nvPr/>
        </p:nvSpPr>
        <p:spPr>
          <a:xfrm>
            <a:off x="296168" y="2269852"/>
            <a:ext cx="1647602" cy="139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Step 03 — Data Modelling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296168" y="2440707"/>
            <a:ext cx="5122664" cy="219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Built 14-table star schema in Power BI Model View. Set results.csv as the central fact table. Defined and validated all table relationships before building any visuals.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296168" y="2776984"/>
            <a:ext cx="169218" cy="1057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FFE5E5"/>
                </a:solidFill>
                <a:latin typeface="Dela Gothic One Light" pitchFamily="34" charset="0"/>
                <a:ea typeface="Dela Gothic One Light" pitchFamily="34" charset="-122"/>
                <a:cs typeface="Dela Gothic One Light" pitchFamily="34" charset="-120"/>
              </a:rPr>
              <a:t>04</a:t>
            </a:r>
            <a:endParaRPr lang="en-US" sz="650" dirty="0"/>
          </a:p>
        </p:txBody>
      </p:sp>
      <p:sp>
        <p:nvSpPr>
          <p:cNvPr id="17" name="Shape 14"/>
          <p:cNvSpPr/>
          <p:nvPr/>
        </p:nvSpPr>
        <p:spPr>
          <a:xfrm>
            <a:off x="296168" y="2911227"/>
            <a:ext cx="5122664" cy="9525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18" name="Text 15"/>
          <p:cNvSpPr/>
          <p:nvPr/>
        </p:nvSpPr>
        <p:spPr>
          <a:xfrm>
            <a:off x="296168" y="2972544"/>
            <a:ext cx="1652960" cy="139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Step 04 — DAX Measures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96168" y="3143399"/>
            <a:ext cx="5122664" cy="219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Wrote 8 custom DAX measures: Total_wins, Total_podiums, Win Rate%, DNF count (with +1 Lap exclusion fix), DNF Rate%, Avg Win Rate%, Races_Held, and Total_Circuits.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296168" y="3479676"/>
            <a:ext cx="169218" cy="1057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FFE5E5"/>
                </a:solidFill>
                <a:latin typeface="Dela Gothic One Light" pitchFamily="34" charset="0"/>
                <a:ea typeface="Dela Gothic One Light" pitchFamily="34" charset="-122"/>
                <a:cs typeface="Dela Gothic One Light" pitchFamily="34" charset="-120"/>
              </a:rPr>
              <a:t>05</a:t>
            </a:r>
            <a:endParaRPr lang="en-US" sz="650" dirty="0"/>
          </a:p>
        </p:txBody>
      </p:sp>
      <p:sp>
        <p:nvSpPr>
          <p:cNvPr id="21" name="Shape 18"/>
          <p:cNvSpPr/>
          <p:nvPr/>
        </p:nvSpPr>
        <p:spPr>
          <a:xfrm>
            <a:off x="296168" y="3613919"/>
            <a:ext cx="5122664" cy="9525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22" name="Text 19"/>
          <p:cNvSpPr/>
          <p:nvPr/>
        </p:nvSpPr>
        <p:spPr>
          <a:xfrm>
            <a:off x="296168" y="3675236"/>
            <a:ext cx="1751707" cy="139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Step 05 — Dashboard Build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296168" y="3846091"/>
            <a:ext cx="5122664" cy="219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Developed 5 pages: HOME (navigation) → Season Command Center → Driver Analytics → Constructor Dominance → Circuit Intelligence. Applied dark F1 theme throughout.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296168" y="4182368"/>
            <a:ext cx="169218" cy="1057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FFE5E5"/>
                </a:solidFill>
                <a:latin typeface="Dela Gothic One Light" pitchFamily="34" charset="0"/>
                <a:ea typeface="Dela Gothic One Light" pitchFamily="34" charset="-122"/>
                <a:cs typeface="Dela Gothic One Light" pitchFamily="34" charset="-120"/>
              </a:rPr>
              <a:t>06</a:t>
            </a:r>
            <a:endParaRPr lang="en-US" sz="650" dirty="0"/>
          </a:p>
        </p:txBody>
      </p:sp>
      <p:sp>
        <p:nvSpPr>
          <p:cNvPr id="25" name="Shape 22"/>
          <p:cNvSpPr/>
          <p:nvPr/>
        </p:nvSpPr>
        <p:spPr>
          <a:xfrm>
            <a:off x="296168" y="4316611"/>
            <a:ext cx="5122664" cy="9525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26" name="Text 23"/>
          <p:cNvSpPr/>
          <p:nvPr/>
        </p:nvSpPr>
        <p:spPr>
          <a:xfrm>
            <a:off x="296168" y="4377928"/>
            <a:ext cx="1960364" cy="139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Step 06 — Validation &amp; Testing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296168" y="4548783"/>
            <a:ext cx="5122664" cy="219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Cross-verified all KPIs against known F1 statistics (Hamilton=105 wins, Ferrari=249 wins, Schumacher=91). Tested all slicers for cross-filter accuracy across all pages.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9827" y="383604"/>
            <a:ext cx="4915346" cy="751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RISKS, CHALLENGES &amp; MITIGATIONS</a:t>
            </a:r>
            <a:endParaRPr lang="en-US" sz="2350" dirty="0"/>
          </a:p>
        </p:txBody>
      </p:sp>
      <p:sp>
        <p:nvSpPr>
          <p:cNvPr id="4" name="Shape 1"/>
          <p:cNvSpPr/>
          <p:nvPr/>
        </p:nvSpPr>
        <p:spPr>
          <a:xfrm>
            <a:off x="399827" y="1279922"/>
            <a:ext cx="4915346" cy="3479899"/>
          </a:xfrm>
          <a:prstGeom prst="roundRect">
            <a:avLst>
              <a:gd name="adj" fmla="val 1379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18889" y="1347267"/>
            <a:ext cx="2188666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Risk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2483569" y="1347267"/>
            <a:ext cx="1205136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Likelihood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3464719" y="1347267"/>
            <a:ext cx="2188666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Mitigation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18889" y="1645667"/>
            <a:ext cx="1731466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Large file sizes (lap_times.csv: 538K+ rows) may slow Power BI performance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2483569" y="1645667"/>
            <a:ext cx="1205136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Medium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464719" y="1645667"/>
            <a:ext cx="1731466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Used Power Query aggregations. Imported only required columns to optimize model size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18889" y="2281014"/>
            <a:ext cx="1731466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Missing values in older race records (pre-1980 seasons) affect data quality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2483569" y="2281014"/>
            <a:ext cx="1205136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464719" y="2281014"/>
            <a:ext cx="1731466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Filtered analysis to post-1980 where data is complete. Flagged pre-1980 gaps clearly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18889" y="2916362"/>
            <a:ext cx="1731466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Complex multi-table relationships causing incorrect DAX results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2483569" y="2916362"/>
            <a:ext cx="1205136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Medium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464719" y="2916362"/>
            <a:ext cx="1731466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Validated every DAX measure against known F1 statistics before finalising dashboard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18889" y="3551709"/>
            <a:ext cx="1731466" cy="336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Circular dependency error in DecadeSort calculated column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2483569" y="3551709"/>
            <a:ext cx="747936" cy="336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Occurred &amp; Fixed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464719" y="3551709"/>
            <a:ext cx="1731466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Resolved by rewriting using FLOOR(races[year], 10) instead of referencing Decade column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18889" y="4187056"/>
            <a:ext cx="1731466" cy="336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DNF Rate % inflated by lapped cars being counted as DNFs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2483569" y="4187056"/>
            <a:ext cx="747936" cy="336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Occurred &amp; Fixed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3464719" y="4187056"/>
            <a:ext cx="1731466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Updated DNF measure to explicitly exclude +1 Lap through +26 Laps status values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382F598-8FBD-2D64-A49D-4A9D48004D1C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8901F6-1C96-8C68-C068-69422C0F7A6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461" y="183926"/>
            <a:ext cx="8820539" cy="50155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6FC53B-9DFA-A412-3D3B-3A60F16AE1A7}"/>
              </a:ext>
            </a:extLst>
          </p:cNvPr>
          <p:cNvSpPr txBox="1"/>
          <p:nvPr/>
        </p:nvSpPr>
        <p:spPr>
          <a:xfrm>
            <a:off x="211493" y="-92703"/>
            <a:ext cx="1878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HOME PAGE</a:t>
            </a:r>
          </a:p>
        </p:txBody>
      </p:sp>
    </p:spTree>
    <p:extLst>
      <p:ext uri="{BB962C8B-B14F-4D97-AF65-F5344CB8AC3E}">
        <p14:creationId xmlns:p14="http://schemas.microsoft.com/office/powerpoint/2010/main" val="2279295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A9C2C3-9699-F8FF-285D-0B113957A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649" y="0"/>
            <a:ext cx="5082702" cy="51435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488B82F-07F2-0CDC-68EE-D4648A47D74A}"/>
              </a:ext>
            </a:extLst>
          </p:cNvPr>
          <p:cNvSpPr/>
          <p:nvPr/>
        </p:nvSpPr>
        <p:spPr>
          <a:xfrm>
            <a:off x="-192833" y="-68424"/>
            <a:ext cx="9336833" cy="52119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A86600-02D7-218E-553E-BE3DD3BFA82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3277" y="0"/>
            <a:ext cx="5082702" cy="52119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6E5770-9572-30D7-17F3-39BEF5A4F51D}"/>
              </a:ext>
            </a:extLst>
          </p:cNvPr>
          <p:cNvSpPr txBox="1"/>
          <p:nvPr/>
        </p:nvSpPr>
        <p:spPr>
          <a:xfrm>
            <a:off x="-238088" y="-1622"/>
            <a:ext cx="23139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SEASON COMMAND CENTER</a:t>
            </a:r>
          </a:p>
        </p:txBody>
      </p:sp>
    </p:spTree>
    <p:extLst>
      <p:ext uri="{BB962C8B-B14F-4D97-AF65-F5344CB8AC3E}">
        <p14:creationId xmlns:p14="http://schemas.microsoft.com/office/powerpoint/2010/main" val="1707173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BF69AF-7F05-2D90-2F4C-ACED4D3BCEE3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13231B-E87C-788F-85D4-45916B70AD4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59901" y="0"/>
            <a:ext cx="5237585" cy="50758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7140791-5FCF-0639-3936-5E9AB35CCAEF}"/>
              </a:ext>
            </a:extLst>
          </p:cNvPr>
          <p:cNvSpPr txBox="1"/>
          <p:nvPr/>
        </p:nvSpPr>
        <p:spPr>
          <a:xfrm>
            <a:off x="124408" y="18309"/>
            <a:ext cx="13187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chemeClr val="bg1"/>
                </a:solidFill>
              </a:rPr>
              <a:t>DRIVER ANALYTICS</a:t>
            </a:r>
          </a:p>
        </p:txBody>
      </p:sp>
    </p:spTree>
    <p:extLst>
      <p:ext uri="{BB962C8B-B14F-4D97-AF65-F5344CB8AC3E}">
        <p14:creationId xmlns:p14="http://schemas.microsoft.com/office/powerpoint/2010/main" val="3380028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0C9C36-16D0-5781-0714-CD25FF27785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B4C98B-DBEE-0BE8-EBD1-72A0E965246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26126" y="118188"/>
            <a:ext cx="4992221" cy="49452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AE82B3-E880-F66C-6ECD-AF14555ADF40}"/>
              </a:ext>
            </a:extLst>
          </p:cNvPr>
          <p:cNvSpPr txBox="1"/>
          <p:nvPr/>
        </p:nvSpPr>
        <p:spPr>
          <a:xfrm>
            <a:off x="1" y="0"/>
            <a:ext cx="19158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chemeClr val="bg1"/>
                </a:solidFill>
              </a:rPr>
              <a:t>CONSTRUCTOR</a:t>
            </a:r>
            <a:r>
              <a:rPr lang="en-IN" sz="1200" dirty="0">
                <a:solidFill>
                  <a:schemeClr val="bg1"/>
                </a:solidFill>
              </a:rPr>
              <a:t> DOMINANCE</a:t>
            </a:r>
          </a:p>
        </p:txBody>
      </p:sp>
    </p:spTree>
    <p:extLst>
      <p:ext uri="{BB962C8B-B14F-4D97-AF65-F5344CB8AC3E}">
        <p14:creationId xmlns:p14="http://schemas.microsoft.com/office/powerpoint/2010/main" val="9729715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8A5D82-A818-8FAD-C171-DF67FC08CEDC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E2F86B-417F-CF02-C3B3-337340C753C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4119" y="80864"/>
            <a:ext cx="5155761" cy="49452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05C4A37-71B0-6F3A-2733-6C16B1A553AD}"/>
              </a:ext>
            </a:extLst>
          </p:cNvPr>
          <p:cNvSpPr txBox="1"/>
          <p:nvPr/>
        </p:nvSpPr>
        <p:spPr>
          <a:xfrm>
            <a:off x="228839" y="0"/>
            <a:ext cx="15364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chemeClr val="bg1"/>
                </a:solidFill>
              </a:rPr>
              <a:t>CIRCUIT INTELLIGENCE</a:t>
            </a:r>
          </a:p>
        </p:txBody>
      </p:sp>
    </p:spTree>
    <p:extLst>
      <p:ext uri="{BB962C8B-B14F-4D97-AF65-F5344CB8AC3E}">
        <p14:creationId xmlns:p14="http://schemas.microsoft.com/office/powerpoint/2010/main" val="3971474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0885" y="204029"/>
            <a:ext cx="2573015" cy="264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CONCLUSION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356005" y="569389"/>
            <a:ext cx="5358995" cy="427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600" dirty="0">
                <a:solidFill>
                  <a:srgbClr val="FFE5E5"/>
                </a:solidFill>
                <a:latin typeface="DM Sans" pitchFamily="34" charset="0"/>
              </a:rPr>
              <a:t>Unified 14 relational tables into one analytical model</a:t>
            </a: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600" dirty="0">
                <a:solidFill>
                  <a:srgbClr val="FFE5E5"/>
                </a:solidFill>
                <a:latin typeface="DM Sans" pitchFamily="34" charset="0"/>
              </a:rPr>
              <a:t>Built an interactive performance intelligence dashboard </a:t>
            </a: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600" dirty="0">
                <a:solidFill>
                  <a:srgbClr val="FFE5E5"/>
                </a:solidFill>
                <a:latin typeface="DM Sans" pitchFamily="34" charset="0"/>
              </a:rPr>
              <a:t>Reduced manual analysis of 75 years of F1 history </a:t>
            </a:r>
          </a:p>
          <a:p>
            <a:pPr marL="171450" indent="-17145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600" dirty="0">
                <a:solidFill>
                  <a:srgbClr val="FFE5E5"/>
                </a:solidFill>
                <a:latin typeface="DM Sans" pitchFamily="34" charset="0"/>
              </a:rPr>
              <a:t>Enabled driver, constructor, and circuit performance evaluation through self-service analytics</a:t>
            </a:r>
          </a:p>
        </p:txBody>
      </p:sp>
      <p:sp>
        <p:nvSpPr>
          <p:cNvPr id="5" name="Text 2"/>
          <p:cNvSpPr/>
          <p:nvPr/>
        </p:nvSpPr>
        <p:spPr>
          <a:xfrm>
            <a:off x="281360" y="1057052"/>
            <a:ext cx="5152281" cy="265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0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5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2299767" y="1398389"/>
            <a:ext cx="1115392" cy="132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Dashboard Pages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281360" y="1666280"/>
            <a:ext cx="5152281" cy="265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0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14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2317254" y="2007617"/>
            <a:ext cx="1080492" cy="132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Relational Tables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81360" y="2275508"/>
            <a:ext cx="5152281" cy="265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0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8</a:t>
            </a:r>
            <a:endParaRPr lang="en-US" sz="2050" dirty="0"/>
          </a:p>
        </p:txBody>
      </p:sp>
      <p:sp>
        <p:nvSpPr>
          <p:cNvPr id="10" name="Text 7"/>
          <p:cNvSpPr/>
          <p:nvPr/>
        </p:nvSpPr>
        <p:spPr>
          <a:xfrm>
            <a:off x="2328565" y="2616845"/>
            <a:ext cx="1057870" cy="132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DAX Measures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81360" y="2884736"/>
            <a:ext cx="5152281" cy="265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0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55+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2328565" y="3226073"/>
            <a:ext cx="1057870" cy="132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Total Visuals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81360" y="3493963"/>
            <a:ext cx="5152281" cy="265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0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75</a:t>
            </a:r>
            <a:endParaRPr lang="en-US" sz="2050" dirty="0"/>
          </a:p>
        </p:txBody>
      </p:sp>
      <p:sp>
        <p:nvSpPr>
          <p:cNvPr id="14" name="Text 11"/>
          <p:cNvSpPr/>
          <p:nvPr/>
        </p:nvSpPr>
        <p:spPr>
          <a:xfrm>
            <a:off x="2304604" y="3835301"/>
            <a:ext cx="1105793" cy="132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Seasons Covered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2760" y="4076811"/>
            <a:ext cx="5488930" cy="102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80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"Races are won at the track. Championships are won at the factory."</a:t>
            </a:r>
            <a:endParaRPr lang="en-US" sz="800" b="1" dirty="0"/>
          </a:p>
        </p:txBody>
      </p:sp>
      <p:sp>
        <p:nvSpPr>
          <p:cNvPr id="16" name="Shape 13"/>
          <p:cNvSpPr/>
          <p:nvPr/>
        </p:nvSpPr>
        <p:spPr>
          <a:xfrm>
            <a:off x="1058910" y="4024834"/>
            <a:ext cx="9525" cy="209773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17" name="Text 14"/>
          <p:cNvSpPr/>
          <p:nvPr/>
        </p:nvSpPr>
        <p:spPr>
          <a:xfrm>
            <a:off x="52760" y="4284613"/>
            <a:ext cx="5380881" cy="102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6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Presented by: Niranjan | PGDA 46 | Capstone Project 1 | May 2025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1168971" y="4458667"/>
            <a:ext cx="3148459" cy="365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2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THANK YOU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808</TotalTime>
  <Words>1607</Words>
  <Application>Microsoft Office PowerPoint</Application>
  <PresentationFormat>On-screen Show (16:9)</PresentationFormat>
  <Paragraphs>228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Dela Gothic One Light</vt:lpstr>
      <vt:lpstr>Dela Gothic One</vt:lpstr>
      <vt:lpstr>Consolas</vt:lpstr>
      <vt:lpstr>Arial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niranjan nandam</cp:lastModifiedBy>
  <cp:revision>7</cp:revision>
  <dcterms:created xsi:type="dcterms:W3CDTF">2026-05-22T04:41:41Z</dcterms:created>
  <dcterms:modified xsi:type="dcterms:W3CDTF">2026-05-23T14:58:13Z</dcterms:modified>
</cp:coreProperties>
</file>